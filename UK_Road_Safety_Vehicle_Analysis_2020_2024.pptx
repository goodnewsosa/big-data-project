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Brygada 1918" panose="020B0604020202020204" charset="0"/>
      <p:regular r:id="rId15"/>
    </p:embeddedFont>
    <p:embeddedFont>
      <p:font typeface="Brygada 1918 Bold" panose="020B0604020202020204" charset="0"/>
      <p:regular r:id="rId16"/>
    </p:embeddedFont>
    <p:embeddedFont>
      <p:font typeface="Brygada 1918 Semi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94EA8-28F6-5306-F3E2-2A2EFE52A3A7}" v="132" dt="2026-08-11T13:52:19.834"/>
    <p1510:client id="{2C9FB83C-9268-B17C-8DC9-29CE32E1A6CD}" v="60" dt="2026-08-11T14:02:46.238"/>
    <p1510:client id="{8CCEDA2F-7723-BAEB-E471-A0E11048D71E}" v="180" dt="2026-08-11T12:55:31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4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and the 2020–2024 period. Each row is a vehicle involved in a police-reported personal-injury collision.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unit of analysis before the research questions. Stress that this is not the whole driving population.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Combine data quality and cleaning here. Explain decoding, valid denominators, duplicate checking and final validation. No code needs to be shown.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PySpark and SQL were used behind the scenes. Focus the presentation on the exploratory charts, the patterns they reveal, and what those patterns mean rather than showing code.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Data: decoded type counts. Information: cars form 68.8%. Knowledge: volume is not risk without exposure.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the 17–29 shares. Use this to show that a single average age would hide important differences.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to the small but consistent rise in car share and fall in pedal-cycle share. Avoid claiming a cause.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2022 maximum is 193,545 records. The 2024 count is lower, but this remains an involvement count rather than a rate.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recorded vehicles is the most common structure. Clarify that one recorded vehicle does not necessarily mean no other road user was involved.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largest change is between 2020 and 2021. Rental trials, usage and reporting are plausible context, but the dataset cannot isolate causes.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row to explain the full Data → Information → Knowledge journey, then scan the other examples.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two new insights, then state the limitations clearly. The next analytical step is a join to collision and casualty data.</a:t>
            </a:r>
          </a:p>
          <a:p>
            <a:endParaRPr/>
          </a:p>
          <a:p>
            <a:r>
              <a:t>[Sources]</a:t>
            </a:r>
          </a:p>
          <a:p>
            <a:r>
              <a:t>- https://www.gov.uk/government/statistical-data-sets/road-safety-open-data (DfT road safety open data; accessed 2026-08-10)</a:t>
            </a:r>
          </a:p>
          <a:p>
            <a:r>
              <a:t>- https://assets.publishing.service.gov.uk/media/68373908e11dd1e85b0cbb24/STATS20_2024_specification.pdf (DfT STATS20 2024 code definitions; accessed 2026-08-10)</a:t>
            </a:r>
          </a:p>
          <a:p>
            <a:r>
              <a:t>- Corrected_UK_Road_Safety_Vehicle_Analysis_2020_2024_final_2 (1).ipynb (analysis and chart output)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5E94AC-7D59-4665-AB8A-E91E91FD9A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CF2DA8-CC15-4776-A9E3-D307E22886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statistical-data-sets/road-safety-open-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colab.research.google.com/drive/1AEcI9-PoWQ5TziZndYBzd51RWeV-QaAQ?usp=shar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2FFC224-68C9-40D7-BE75-9AF2966D53BF}"/>
              </a:ext>
            </a:extLst>
          </p:cNvPr>
          <p:cNvSpPr>
            <a:spLocks noGrp="1"/>
          </p:cNvSpPr>
          <p:nvPr/>
        </p:nvSpPr>
        <p:spPr>
          <a:xfrm>
            <a:off x="496119" y="1380976"/>
            <a:ext cx="4722763" cy="13289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4000"/>
              </a:lnSpc>
            </a:pPr>
            <a:r>
              <a:rPr sz="2750" dirty="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UK Road Safety Vehicle </a:t>
            </a:r>
            <a:r>
              <a:rPr sz="27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Dataset Analysis (</a:t>
            </a:r>
            <a:r>
              <a:rPr lang="en-US" sz="27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2020 - 2024</a:t>
            </a:r>
            <a:r>
              <a:rPr sz="2750" dirty="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)</a:t>
            </a:r>
            <a:endParaRPr lang="en-US" sz="2750"/>
          </a:p>
          <a:p>
            <a:pPr>
              <a:lnSpc>
                <a:spcPct val="104000"/>
              </a:lnSpc>
            </a:pPr>
            <a:endParaRPr lang="en-US" sz="2750" dirty="0">
              <a:solidFill>
                <a:srgbClr val="403011"/>
              </a:solidFill>
              <a:latin typeface="Brygada 1918 SemiBold"/>
              <a:ea typeface="Brygada 1918 SemiBold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05FC5EE-0B84-4FE1-AC59-D12859BF5778}"/>
              </a:ext>
            </a:extLst>
          </p:cNvPr>
          <p:cNvSpPr>
            <a:spLocks noGrp="1"/>
          </p:cNvSpPr>
          <p:nvPr/>
        </p:nvSpPr>
        <p:spPr>
          <a:xfrm>
            <a:off x="496119" y="3058609"/>
            <a:ext cx="4858834" cy="109391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33000"/>
              </a:lnSpc>
              <a:spcAft>
                <a:spcPts val="1250"/>
              </a:spcAft>
            </a:pPr>
            <a:r>
              <a:rPr sz="1400" b="1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Group 5 </a:t>
            </a:r>
            <a:r>
              <a:rPr lang="en-US" sz="1400" b="1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: </a:t>
            </a:r>
            <a:r>
              <a:rPr sz="1400" b="1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Big Data Module</a:t>
            </a:r>
            <a:endParaRPr lang="en-US" sz="1400" b="1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Names: </a:t>
            </a:r>
            <a:r>
              <a:rPr lang="en-US" sz="1400" b="1" dirty="0" err="1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Iyenoma</a:t>
            </a:r>
            <a:r>
              <a:rPr sz="1400" b="1" dirty="0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 Goodnews </a:t>
            </a:r>
            <a:r>
              <a:rPr lang="en-US" sz="1400" b="1" dirty="0" err="1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Osabuohien</a:t>
            </a:r>
            <a:r>
              <a:rPr lang="en-US" sz="1400" b="1" dirty="0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, Tharsana</a:t>
            </a:r>
            <a:r>
              <a:rPr sz="1400" b="1" dirty="0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 Kanakarasa</a:t>
            </a:r>
            <a:r>
              <a:rPr lang="en-US" sz="1400" b="1" dirty="0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,  </a:t>
            </a:r>
            <a:r>
              <a:rPr sz="1400" b="1" dirty="0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Chukwuemeka </a:t>
            </a:r>
            <a:r>
              <a:rPr sz="1400" b="1" dirty="0" err="1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Ohiaeri</a:t>
            </a:r>
            <a:r>
              <a:rPr lang="en-US" sz="1400" b="1" dirty="0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,  </a:t>
            </a:r>
            <a:r>
              <a:rPr sz="1400" b="1" dirty="0" err="1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Ahanaf</a:t>
            </a:r>
            <a:r>
              <a:rPr sz="1400" b="1" dirty="0">
                <a:solidFill>
                  <a:schemeClr val="accent5">
                    <a:lumMod val="76000"/>
                  </a:schemeClr>
                </a:solidFill>
                <a:latin typeface="Brygada 1918"/>
                <a:ea typeface="Brygada 1918"/>
                <a:cs typeface="Brygada 1918"/>
              </a:rPr>
              <a:t> Pervez</a:t>
            </a:r>
          </a:p>
          <a:p>
            <a:pPr>
              <a:lnSpc>
                <a:spcPct val="133000"/>
              </a:lnSpc>
            </a:pPr>
            <a:endParaRPr lang="en-US" sz="1400" b="1" dirty="0">
              <a:solidFill>
                <a:srgbClr val="403011"/>
              </a:solidFill>
              <a:latin typeface="Brygada 1918"/>
              <a:ea typeface="Brygada 1918"/>
              <a:cs typeface="Calibri"/>
            </a:endParaRPr>
          </a:p>
          <a:p>
            <a:pPr>
              <a:lnSpc>
                <a:spcPct val="133000"/>
              </a:lnSpc>
            </a:pPr>
            <a:endParaRPr lang="en-US" sz="1400" b="1" dirty="0">
              <a:solidFill>
                <a:srgbClr val="403011"/>
              </a:solidFill>
              <a:latin typeface="Brygada 1918"/>
              <a:ea typeface="Brygada 1918"/>
              <a:cs typeface="Calibri"/>
            </a:endParaRPr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1B0DE967-834D-C9F1-5AB5-12CB596EF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942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E81A50-674D-4863-BF8A-3CE4307BF71B}"/>
              </a:ext>
            </a:extLst>
          </p:cNvPr>
          <p:cNvSpPr>
            <a:spLocks noGrp="1"/>
          </p:cNvSpPr>
          <p:nvPr/>
        </p:nvSpPr>
        <p:spPr>
          <a:xfrm>
            <a:off x="487048" y="61748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Dataset Scope and Research Questions</a:t>
            </a:r>
            <a:endParaRPr sz="275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84F827D-8CEF-43CE-8CBF-949AAD224870}"/>
              </a:ext>
            </a:extLst>
          </p:cNvPr>
          <p:cNvSpPr>
            <a:spLocks noGrp="1"/>
          </p:cNvSpPr>
          <p:nvPr/>
        </p:nvSpPr>
        <p:spPr>
          <a:xfrm>
            <a:off x="4923447" y="1078178"/>
            <a:ext cx="4001535" cy="38189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3520" indent="-223520">
              <a:lnSpc>
                <a:spcPct val="120000"/>
              </a:lnSpc>
              <a:buSzPct val="100000"/>
              <a:buFont typeface="Wingdings"/>
              <a:buChar char="v"/>
            </a:pPr>
            <a:r>
              <a:rPr sz="1200" b="1" dirty="0">
                <a:solidFill>
                  <a:srgbClr val="403011"/>
                </a:solidFill>
                <a:latin typeface="Brygada 1918 Bold"/>
                <a:ea typeface="Brygada 1918 Bold"/>
                <a:cs typeface="Brygada 1918 Bold"/>
              </a:rPr>
              <a:t>Source:</a:t>
            </a:r>
            <a:r>
              <a:rPr lang="en-US" sz="1200" b="1" dirty="0">
                <a:solidFill>
                  <a:srgbClr val="403011"/>
                </a:solidFill>
                <a:latin typeface="Brygada 1918 Bold"/>
                <a:ea typeface="Brygada 1918 Bold"/>
                <a:cs typeface="Brygada 1918 Bold"/>
              </a:rPr>
              <a:t> </a:t>
            </a:r>
            <a:r>
              <a:rPr lang="en-US" sz="1200" b="1" dirty="0" err="1">
                <a:latin typeface="Brygada 1918 Bold" panose="020B0604020202020204" charset="0"/>
                <a:ea typeface="Brygada 1918 Bold" panose="020B0604020202020204" charset="0"/>
                <a:hlinkClick r:id="rId3"/>
              </a:rPr>
              <a:t>DfT</a:t>
            </a:r>
            <a:r>
              <a:rPr lang="en-US" sz="1200" b="1" dirty="0">
                <a:latin typeface="Brygada 1918 Bold" panose="020B0604020202020204" charset="0"/>
                <a:ea typeface="Brygada 1918 Bold" panose="020B0604020202020204" charset="0"/>
                <a:hlinkClick r:id="rId3"/>
              </a:rPr>
              <a:t> Road Safety Open Data – GOV.UK </a:t>
            </a:r>
            <a:endParaRPr lang="en-US" sz="1200" b="1" dirty="0">
              <a:latin typeface="Brygada 1918 Bold" panose="020B0604020202020204" charset="0"/>
              <a:ea typeface="Brygada 1918 Bold" panose="020B0604020202020204" charset="0"/>
              <a:cs typeface="Calibri"/>
            </a:endParaRPr>
          </a:p>
          <a:p>
            <a:pPr marL="223520" indent="-223520" algn="l">
              <a:lnSpc>
                <a:spcPct val="120000"/>
              </a:lnSpc>
              <a:buSzPct val="100000"/>
              <a:buFont typeface="Wingdings"/>
              <a:buChar char="v"/>
            </a:pPr>
            <a:r>
              <a:rPr sz="1200" b="1" dirty="0">
                <a:solidFill>
                  <a:srgbClr val="403011"/>
                </a:solidFill>
                <a:latin typeface="Brygada 1918 Bold"/>
                <a:ea typeface="Brygada 1918 Bold"/>
                <a:cs typeface="Brygada 1918 Bold"/>
              </a:rPr>
              <a:t>Scope: 2020–2024 | 920,692 rows | 32 columns</a:t>
            </a:r>
            <a:endParaRPr sz="1200" dirty="0">
              <a:ea typeface="Calibri"/>
              <a:cs typeface="Calibri"/>
            </a:endParaRPr>
          </a:p>
          <a:p>
            <a:pPr marL="223520" indent="-223520" algn="l">
              <a:lnSpc>
                <a:spcPct val="120000"/>
              </a:lnSpc>
              <a:buSzPct val="100000"/>
              <a:buFont typeface="Wingdings"/>
              <a:buChar char="v"/>
            </a:pPr>
            <a:r>
              <a:rPr sz="1200" b="1" dirty="0">
                <a:solidFill>
                  <a:srgbClr val="403011"/>
                </a:solidFill>
                <a:latin typeface="Brygada 1918 Bold"/>
                <a:ea typeface="Brygada 1918 Bold"/>
                <a:cs typeface="Brygada 1918 Bold"/>
              </a:rPr>
              <a:t>Unit: one vehicle involved in a police-reported personal-injury collision</a:t>
            </a:r>
            <a:endParaRPr sz="1200" dirty="0">
              <a:ea typeface="Calibri"/>
              <a:cs typeface="Calibri"/>
            </a:endParaRPr>
          </a:p>
          <a:p>
            <a:pPr>
              <a:lnSpc>
                <a:spcPct val="120000"/>
              </a:lnSpc>
              <a:buSzPct val="100000"/>
            </a:pPr>
            <a:endParaRPr lang="en-US" sz="1200" b="1" dirty="0">
              <a:solidFill>
                <a:srgbClr val="403011"/>
              </a:solidFill>
              <a:latin typeface="Brygada 1918 Bold"/>
              <a:ea typeface="Brygada 1918 Bold"/>
              <a:cs typeface="Brygada 1918 Bold"/>
            </a:endParaRPr>
          </a:p>
          <a:p>
            <a:pPr>
              <a:lnSpc>
                <a:spcPct val="120000"/>
              </a:lnSpc>
              <a:buSzPct val="100000"/>
            </a:pPr>
            <a:r>
              <a:rPr lang="en-US" sz="1200" b="1" dirty="0">
                <a:solidFill>
                  <a:srgbClr val="403011"/>
                </a:solidFill>
                <a:latin typeface="Brygada 1918 Bold"/>
                <a:ea typeface="Brygada 1918 Bold"/>
                <a:cs typeface="Brygada 1918 Bold"/>
              </a:rPr>
              <a:t>          </a:t>
            </a:r>
            <a:r>
              <a:rPr sz="1200" b="1" dirty="0">
                <a:solidFill>
                  <a:srgbClr val="FF0000"/>
                </a:solidFill>
                <a:latin typeface="Brygada 1918 Bold"/>
                <a:ea typeface="Brygada 1918 Bold"/>
                <a:cs typeface="Brygada 1918 Bold"/>
              </a:rPr>
              <a:t>Questions</a:t>
            </a:r>
            <a:endParaRPr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>
              <a:lnSpc>
                <a:spcPct val="120000"/>
              </a:lnSpc>
              <a:buSzPct val="100000"/>
            </a:pPr>
            <a:r>
              <a:rPr lang="en-US" sz="1200" b="1" dirty="0">
                <a:solidFill>
                  <a:srgbClr val="403011"/>
                </a:solidFill>
                <a:latin typeface="Brygada 1918 Bold"/>
                <a:ea typeface="Brygada 1918 Bold"/>
                <a:cs typeface="Brygada 1918 Bold"/>
              </a:rPr>
              <a:t>  </a:t>
            </a:r>
            <a:r>
              <a:rPr lang="en-US" sz="1200" b="1" dirty="0">
                <a:solidFill>
                  <a:srgbClr val="403011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 </a:t>
            </a:r>
            <a:r>
              <a:rPr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1. Which vehicle and driver groups dominate?</a:t>
            </a:r>
            <a:endParaRPr sz="1200" dirty="0">
              <a:solidFill>
                <a:srgbClr val="FFFF00"/>
              </a:solidFill>
              <a:highlight>
                <a:srgbClr val="000080"/>
              </a:highlight>
              <a:ea typeface="Calibri"/>
              <a:cs typeface="Calibri"/>
            </a:endParaRPr>
          </a:p>
          <a:p>
            <a:pPr>
              <a:lnSpc>
                <a:spcPct val="120000"/>
              </a:lnSpc>
              <a:buSzPct val="100000"/>
            </a:pPr>
            <a:r>
              <a:rPr lang="en-US"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   </a:t>
            </a:r>
            <a:r>
              <a:rPr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2. How did counts and composition change?</a:t>
            </a:r>
            <a:endParaRPr sz="1200" dirty="0">
              <a:solidFill>
                <a:srgbClr val="FFFF00"/>
              </a:solidFill>
              <a:highlight>
                <a:srgbClr val="000080"/>
              </a:highlight>
              <a:ea typeface="Calibri"/>
              <a:cs typeface="Calibri"/>
            </a:endParaRPr>
          </a:p>
          <a:p>
            <a:pPr>
              <a:lnSpc>
                <a:spcPct val="120000"/>
              </a:lnSpc>
              <a:buSzPct val="100000"/>
            </a:pPr>
            <a:r>
              <a:rPr lang="en-US"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   </a:t>
            </a:r>
            <a:r>
              <a:rPr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3. What patterns appear for e-scooters and </a:t>
            </a:r>
            <a:r>
              <a:rPr lang="en-US"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multi-  vehicle</a:t>
            </a:r>
            <a:r>
              <a:rPr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 collisions?</a:t>
            </a:r>
            <a:endParaRPr sz="1200" dirty="0">
              <a:solidFill>
                <a:srgbClr val="FFFF00"/>
              </a:solidFill>
              <a:highlight>
                <a:srgbClr val="000080"/>
              </a:highlight>
              <a:ea typeface="Calibri"/>
              <a:cs typeface="Calibri"/>
            </a:endParaRPr>
          </a:p>
          <a:p>
            <a:pPr>
              <a:lnSpc>
                <a:spcPct val="120000"/>
              </a:lnSpc>
              <a:buSzPct val="100000"/>
            </a:pPr>
            <a:r>
              <a:rPr lang="en-US"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   </a:t>
            </a:r>
            <a:r>
              <a:rPr sz="1200" b="1" dirty="0">
                <a:solidFill>
                  <a:srgbClr val="FFFF00"/>
                </a:solidFill>
                <a:highlight>
                  <a:srgbClr val="000080"/>
                </a:highlight>
                <a:latin typeface="Brygada 1918 Bold"/>
                <a:ea typeface="Brygada 1918 Bold"/>
                <a:cs typeface="Brygada 1918 Bold"/>
              </a:rPr>
              <a:t>4. Is data completeness stable by year?</a:t>
            </a:r>
          </a:p>
          <a:p>
            <a:pPr>
              <a:lnSpc>
                <a:spcPct val="120000"/>
              </a:lnSpc>
            </a:pPr>
            <a:endParaRPr lang="en-US" sz="1200" b="1" dirty="0">
              <a:solidFill>
                <a:srgbClr val="FFFF00"/>
              </a:solidFill>
              <a:highlight>
                <a:srgbClr val="000080"/>
              </a:highlight>
              <a:latin typeface="Brygada 1918 Bold"/>
              <a:ea typeface="Brygada 1918 Bold"/>
              <a:cs typeface="Calibri"/>
            </a:endParaRPr>
          </a:p>
          <a:p>
            <a:pPr>
              <a:lnSpc>
                <a:spcPct val="120000"/>
              </a:lnSpc>
            </a:pPr>
            <a:endParaRPr lang="en-US" sz="1200" b="1" dirty="0">
              <a:highlight>
                <a:srgbClr val="000080"/>
              </a:highlight>
              <a:latin typeface="Brygada 1918 Bold"/>
              <a:ea typeface="Brygada 1918 Bold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200" b="1" dirty="0">
                <a:latin typeface="Brygada 1918 Bold"/>
                <a:ea typeface="Brygada 1918 Bold"/>
                <a:cs typeface="Calibri"/>
              </a:rPr>
              <a:t>KINDLY FIND THE GOOGLE COLAB LINK  FOR DATASET ANALYSIS: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Brygada 1918 Bold" panose="020B0604020202020204" charset="0"/>
                <a:ea typeface="Brygada 1918 Bold" panose="020B0604020202020204" charset="0"/>
                <a:hlinkClick r:id="rId4"/>
              </a:rPr>
              <a:t>Google </a:t>
            </a:r>
            <a:r>
              <a:rPr lang="en-US" sz="1200" dirty="0" err="1">
                <a:latin typeface="Brygada 1918 Bold" panose="020B0604020202020204" charset="0"/>
                <a:ea typeface="Brygada 1918 Bold" panose="020B0604020202020204" charset="0"/>
                <a:hlinkClick r:id="rId4"/>
              </a:rPr>
              <a:t>Colab</a:t>
            </a:r>
            <a:r>
              <a:rPr lang="en-US" sz="1200" dirty="0">
                <a:latin typeface="Brygada 1918 Bold" panose="020B0604020202020204" charset="0"/>
                <a:ea typeface="Brygada 1918 Bold" panose="020B0604020202020204" charset="0"/>
                <a:hlinkClick r:id="rId4"/>
              </a:rPr>
              <a:t> – Dataset Analysis</a:t>
            </a:r>
            <a:endParaRPr lang="en-US" sz="1200" dirty="0">
              <a:latin typeface="Brygada 1918 Bold" panose="020B0604020202020204" charset="0"/>
              <a:ea typeface="Brygada 1918 Bold" panose="020B0604020202020204" charset="0"/>
              <a:cs typeface="+mn-lt"/>
            </a:endParaRPr>
          </a:p>
        </p:txBody>
      </p:sp>
      <p:pic>
        <p:nvPicPr>
          <p:cNvPr id="3" name="Picture 2" descr="Google Colab">
            <a:extLst>
              <a:ext uri="{FF2B5EF4-FFF2-40B4-BE49-F238E27FC236}">
                <a16:creationId xmlns:a16="http://schemas.microsoft.com/office/drawing/2014/main" id="{5876F4AA-CD71-01C0-F21D-D535F3FA1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63" y="1223259"/>
            <a:ext cx="3524847" cy="35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5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6EB7D3A-B7A1-4087-A276-BDF00F4B3061}"/>
              </a:ext>
            </a:extLst>
          </p:cNvPr>
          <p:cNvSpPr>
            <a:spLocks noGrp="1"/>
          </p:cNvSpPr>
          <p:nvPr/>
        </p:nvSpPr>
        <p:spPr>
          <a:xfrm>
            <a:off x="3925119" y="407119"/>
            <a:ext cx="4722763" cy="4223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650" dirty="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Data Quality and Cleaning</a:t>
            </a:r>
            <a:endParaRPr sz="26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0FD32F9-25B9-41BB-AA7A-DDC3EE0476CB}"/>
              </a:ext>
            </a:extLst>
          </p:cNvPr>
          <p:cNvSpPr>
            <a:spLocks noGrp="1"/>
          </p:cNvSpPr>
          <p:nvPr/>
        </p:nvSpPr>
        <p:spPr>
          <a:xfrm>
            <a:off x="3925119" y="1022598"/>
            <a:ext cx="4722763" cy="779115"/>
          </a:xfrm>
          <a:prstGeom prst="roundRect">
            <a:avLst>
              <a:gd name="adj" fmla="val 26015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16675BE-4A69-4E8E-BF62-05E22E63D220}"/>
              </a:ext>
            </a:extLst>
          </p:cNvPr>
          <p:cNvSpPr>
            <a:spLocks noGrp="1"/>
          </p:cNvSpPr>
          <p:nvPr/>
        </p:nvSpPr>
        <p:spPr>
          <a:xfrm>
            <a:off x="4064943" y="1162422"/>
            <a:ext cx="4443115" cy="21111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FFFFFF"/>
                </a:solidFill>
                <a:latin typeface="Brygada 1918 SemiBold"/>
                <a:ea typeface="Brygada 1918 SemiBold"/>
                <a:cs typeface="Brygada 1918 SemiBold"/>
              </a:rPr>
              <a:t>Decode coded values</a:t>
            </a:r>
            <a:endParaRPr sz="13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B91B4D9-6960-4B79-88F1-79D023E2E50C}"/>
              </a:ext>
            </a:extLst>
          </p:cNvPr>
          <p:cNvSpPr>
            <a:spLocks noGrp="1"/>
          </p:cNvSpPr>
          <p:nvPr/>
        </p:nvSpPr>
        <p:spPr>
          <a:xfrm>
            <a:off x="4064943" y="1450777"/>
            <a:ext cx="4443115" cy="21111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Brygada 1918 Bold"/>
                <a:ea typeface="Brygada 1918 Bold"/>
                <a:cs typeface="Brygada 1918 Bold"/>
              </a:rPr>
              <a:t>DFT</a:t>
            </a:r>
            <a:r>
              <a:rPr sz="1050" b="1" dirty="0">
                <a:solidFill>
                  <a:srgbClr val="FFFFFF"/>
                </a:solidFill>
                <a:latin typeface="Brygada 1918 Bold"/>
                <a:ea typeface="Brygada 1918 Bold"/>
                <a:cs typeface="Brygada 1918 Bold"/>
              </a:rPr>
              <a:t> codes were converted to clear labels; unknowns stayed explicit.</a:t>
            </a:r>
            <a:endParaRPr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9673D3F-CAE9-4339-8579-8E239B7D878A}"/>
              </a:ext>
            </a:extLst>
          </p:cNvPr>
          <p:cNvSpPr>
            <a:spLocks noGrp="1"/>
          </p:cNvSpPr>
          <p:nvPr/>
        </p:nvSpPr>
        <p:spPr>
          <a:xfrm>
            <a:off x="3925119" y="1930450"/>
            <a:ext cx="4722763" cy="779115"/>
          </a:xfrm>
          <a:prstGeom prst="roundRect">
            <a:avLst>
              <a:gd name="adj" fmla="val 26015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DD45195-92B1-40D2-B224-70EB9C578E25}"/>
              </a:ext>
            </a:extLst>
          </p:cNvPr>
          <p:cNvSpPr>
            <a:spLocks noGrp="1"/>
          </p:cNvSpPr>
          <p:nvPr/>
        </p:nvSpPr>
        <p:spPr>
          <a:xfrm>
            <a:off x="4064943" y="2070274"/>
            <a:ext cx="4443115" cy="21111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FFFFFF"/>
                </a:solidFill>
                <a:latin typeface="Brygada 1918 SemiBold"/>
                <a:ea typeface="Brygada 1918 SemiBold"/>
                <a:cs typeface="Brygada 1918 SemiBold"/>
              </a:rPr>
              <a:t>Use valid denominators</a:t>
            </a:r>
            <a:endParaRPr sz="13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84AA9E9-F3DD-4C8B-8758-166AADF31CA5}"/>
              </a:ext>
            </a:extLst>
          </p:cNvPr>
          <p:cNvSpPr>
            <a:spLocks noGrp="1"/>
          </p:cNvSpPr>
          <p:nvPr/>
        </p:nvSpPr>
        <p:spPr>
          <a:xfrm>
            <a:off x="4064943" y="2358628"/>
            <a:ext cx="4443115" cy="21111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sz="1050">
                <a:solidFill>
                  <a:srgbClr val="FFFFFF"/>
                </a:solidFill>
                <a:latin typeface="Brygada 1918"/>
                <a:ea typeface="Brygada 1918"/>
                <a:cs typeface="Brygada 1918"/>
              </a:rPr>
              <a:t>Invalid ages and engine values were excluded only from relevant analyses.</a:t>
            </a:r>
            <a:endParaRPr sz="10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BE41595-0397-407A-A396-02CE39FB77E3}"/>
              </a:ext>
            </a:extLst>
          </p:cNvPr>
          <p:cNvSpPr>
            <a:spLocks noGrp="1"/>
          </p:cNvSpPr>
          <p:nvPr/>
        </p:nvSpPr>
        <p:spPr>
          <a:xfrm>
            <a:off x="3925119" y="2838301"/>
            <a:ext cx="4722763" cy="779115"/>
          </a:xfrm>
          <a:prstGeom prst="roundRect">
            <a:avLst>
              <a:gd name="adj" fmla="val 26015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229EE86-D2DA-40E8-88F2-8098B593C4F0}"/>
              </a:ext>
            </a:extLst>
          </p:cNvPr>
          <p:cNvSpPr>
            <a:spLocks noGrp="1"/>
          </p:cNvSpPr>
          <p:nvPr/>
        </p:nvSpPr>
        <p:spPr>
          <a:xfrm>
            <a:off x="4064943" y="2978125"/>
            <a:ext cx="4443115" cy="21111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000000"/>
                </a:solidFill>
                <a:latin typeface="Brygada 1918 SemiBold"/>
                <a:ea typeface="Brygada 1918 SemiBold"/>
                <a:cs typeface="Brygada 1918 SemiBold"/>
              </a:rPr>
              <a:t>Check record identity</a:t>
            </a:r>
            <a:endParaRPr sz="13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910893F-E285-409C-BC7A-FF7EA79CD3FA}"/>
              </a:ext>
            </a:extLst>
          </p:cNvPr>
          <p:cNvSpPr>
            <a:spLocks noGrp="1"/>
          </p:cNvSpPr>
          <p:nvPr/>
        </p:nvSpPr>
        <p:spPr>
          <a:xfrm>
            <a:off x="4064943" y="3266480"/>
            <a:ext cx="4443115" cy="21111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sz="1050">
                <a:solidFill>
                  <a:srgbClr val="000000"/>
                </a:solidFill>
                <a:latin typeface="Brygada 1918"/>
                <a:ea typeface="Brygada 1918"/>
                <a:cs typeface="Brygada 1918"/>
              </a:rPr>
              <a:t>Duplicate vehicle keys were checked; none were found.</a:t>
            </a:r>
            <a:endParaRPr sz="10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BDF103C-54BF-4967-ADFA-9174288476A1}"/>
              </a:ext>
            </a:extLst>
          </p:cNvPr>
          <p:cNvSpPr>
            <a:spLocks noGrp="1"/>
          </p:cNvSpPr>
          <p:nvPr/>
        </p:nvSpPr>
        <p:spPr>
          <a:xfrm>
            <a:off x="3925119" y="3746153"/>
            <a:ext cx="4722763" cy="990228"/>
          </a:xfrm>
          <a:prstGeom prst="roundRect">
            <a:avLst>
              <a:gd name="adj" fmla="val 20468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A42F41C-1B8D-4A18-9B8C-EB7A4493C615}"/>
              </a:ext>
            </a:extLst>
          </p:cNvPr>
          <p:cNvSpPr>
            <a:spLocks noGrp="1"/>
          </p:cNvSpPr>
          <p:nvPr/>
        </p:nvSpPr>
        <p:spPr>
          <a:xfrm>
            <a:off x="4064943" y="3885977"/>
            <a:ext cx="4443115" cy="21111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000000"/>
                </a:solidFill>
                <a:latin typeface="Brygada 1918 SemiBold"/>
                <a:ea typeface="Brygada 1918 SemiBold"/>
                <a:cs typeface="Brygada 1918 SemiBold"/>
              </a:rPr>
              <a:t>Validate final data</a:t>
            </a:r>
            <a:endParaRPr sz="13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A592ECD-8750-4C41-AC90-FA77C84CA8B8}"/>
              </a:ext>
            </a:extLst>
          </p:cNvPr>
          <p:cNvSpPr>
            <a:spLocks noGrp="1"/>
          </p:cNvSpPr>
          <p:nvPr/>
        </p:nvSpPr>
        <p:spPr>
          <a:xfrm>
            <a:off x="4064943" y="4174331"/>
            <a:ext cx="4443115" cy="4222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050" dirty="0"/>
              <a:t>The base dataset retained all 920,692 rows; each analysis then applied field-specific validity rules. </a:t>
            </a:r>
            <a:r>
              <a:rPr lang="en-US" sz="1050" dirty="0" err="1"/>
              <a:t>PySpark</a:t>
            </a:r>
            <a:r>
              <a:rPr lang="en-US" sz="1050" dirty="0"/>
              <a:t> results were checked before plotting.</a:t>
            </a:r>
          </a:p>
        </p:txBody>
      </p:sp>
      <p:pic>
        <p:nvPicPr>
          <p:cNvPr id="18" name="Image 0">
            <a:extLst>
              <a:ext uri="{FF2B5EF4-FFF2-40B4-BE49-F238E27FC236}">
                <a16:creationId xmlns:a16="http://schemas.microsoft.com/office/drawing/2014/main" id="{D9E844CC-AC6B-A270-8DA2-DBE3E159B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0938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F36C25-23F2-447A-BC76-ED3388D8E3FB}"/>
              </a:ext>
            </a:extLst>
          </p:cNvPr>
          <p:cNvSpPr>
            <a:spLocks noGrp="1"/>
          </p:cNvSpPr>
          <p:nvPr/>
        </p:nvSpPr>
        <p:spPr>
          <a:xfrm>
            <a:off x="496119" y="49143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Exploratory Data Analysis (EDA)</a:t>
            </a:r>
            <a:endParaRPr sz="275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F559D39-A7EC-453D-8DB8-85C367023BD7}"/>
              </a:ext>
            </a:extLst>
          </p:cNvPr>
          <p:cNvSpPr>
            <a:spLocks noGrp="1"/>
          </p:cNvSpPr>
          <p:nvPr/>
        </p:nvSpPr>
        <p:spPr>
          <a:xfrm>
            <a:off x="496119" y="4198367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100" dirty="0" err="1"/>
              <a:t>PySpark</a:t>
            </a:r>
            <a:r>
              <a:rPr lang="en-US" sz="1100" dirty="0"/>
              <a:t> processed 920,692 records. EDA examined driver demographics and vehicle characteristics before the main findings.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0881" y="1309167"/>
            <a:ext cx="2655484" cy="26384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52713" y="1300638"/>
            <a:ext cx="2629970" cy="264702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04620" y="1292108"/>
            <a:ext cx="2647028" cy="265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4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0F6C92-761F-46E9-ABAC-2F732781951A}"/>
              </a:ext>
            </a:extLst>
          </p:cNvPr>
          <p:cNvSpPr>
            <a:spLocks noGrp="1"/>
          </p:cNvSpPr>
          <p:nvPr/>
        </p:nvSpPr>
        <p:spPr>
          <a:xfrm>
            <a:off x="496119" y="575390"/>
            <a:ext cx="8151763" cy="43606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0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Cars dominate the recorded vehicle mix</a:t>
            </a:r>
            <a:endParaRPr sz="27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52177FB-4B32-47B6-BB73-7667C8082465}"/>
              </a:ext>
            </a:extLst>
          </p:cNvPr>
          <p:cNvSpPr>
            <a:spLocks noGrp="1"/>
          </p:cNvSpPr>
          <p:nvPr/>
        </p:nvSpPr>
        <p:spPr>
          <a:xfrm>
            <a:off x="6020767" y="1218456"/>
            <a:ext cx="676126" cy="212006"/>
          </a:xfrm>
          <a:prstGeom prst="roundRect">
            <a:avLst>
              <a:gd name="adj" fmla="val 78990"/>
            </a:avLst>
          </a:prstGeom>
          <a:solidFill>
            <a:srgbClr val="EAEDD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567295-7137-407A-ACCC-F1AA39FEDBF1}"/>
              </a:ext>
            </a:extLst>
          </p:cNvPr>
          <p:cNvSpPr>
            <a:spLocks noGrp="1"/>
          </p:cNvSpPr>
          <p:nvPr/>
        </p:nvSpPr>
        <p:spPr>
          <a:xfrm>
            <a:off x="6104483" y="1260277"/>
            <a:ext cx="965895" cy="12836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 → I → K</a:t>
            </a:r>
            <a:endParaRPr sz="8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3C5840D-42DB-4924-AE57-F29EC9832569}"/>
              </a:ext>
            </a:extLst>
          </p:cNvPr>
          <p:cNvSpPr>
            <a:spLocks noGrp="1"/>
          </p:cNvSpPr>
          <p:nvPr/>
        </p:nvSpPr>
        <p:spPr>
          <a:xfrm>
            <a:off x="6020767" y="1485379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Data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C9B2284-C4A2-4ABD-8154-CE33DEF29C98}"/>
              </a:ext>
            </a:extLst>
          </p:cNvPr>
          <p:cNvSpPr>
            <a:spLocks noGrp="1"/>
          </p:cNvSpPr>
          <p:nvPr/>
        </p:nvSpPr>
        <p:spPr>
          <a:xfrm>
            <a:off x="6020767" y="1704303"/>
            <a:ext cx="2631877" cy="44291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32000"/>
              </a:lnSpc>
            </a:pPr>
            <a:r>
              <a:rPr sz="105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Top 10 decoded vehicle types across </a:t>
            </a:r>
            <a:r>
              <a:rPr lang="en-US"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2020 - 2024</a:t>
            </a:r>
            <a:r>
              <a:rPr sz="105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.</a:t>
            </a:r>
            <a:endParaRPr sz="10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0797FDD-B316-4AA4-A8A2-B266BF9581F7}"/>
              </a:ext>
            </a:extLst>
          </p:cNvPr>
          <p:cNvSpPr>
            <a:spLocks noGrp="1"/>
          </p:cNvSpPr>
          <p:nvPr/>
        </p:nvSpPr>
        <p:spPr>
          <a:xfrm>
            <a:off x="6020767" y="2421062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Information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3CC6098-4120-476E-A52C-459AA0471889}"/>
              </a:ext>
            </a:extLst>
          </p:cNvPr>
          <p:cNvSpPr>
            <a:spLocks noGrp="1"/>
          </p:cNvSpPr>
          <p:nvPr/>
        </p:nvSpPr>
        <p:spPr>
          <a:xfrm>
            <a:off x="6020767" y="2631456"/>
            <a:ext cx="2631877" cy="44291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Cars account for 628,614 records</a:t>
            </a:r>
            <a:r>
              <a:rPr lang="en-US" sz="105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 </a:t>
            </a: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68.8% </a:t>
            </a:r>
            <a:r>
              <a:rPr sz="105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of valid vehicle types.</a:t>
            </a:r>
            <a:endParaRPr sz="1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18750E3-E4B1-415E-B364-B47711C54881}"/>
              </a:ext>
            </a:extLst>
          </p:cNvPr>
          <p:cNvSpPr>
            <a:spLocks noGrp="1"/>
          </p:cNvSpPr>
          <p:nvPr/>
        </p:nvSpPr>
        <p:spPr>
          <a:xfrm>
            <a:off x="6020767" y="3356744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Knowledge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B1316B-0F16-442E-B378-8335494A3704}"/>
              </a:ext>
            </a:extLst>
          </p:cNvPr>
          <p:cNvSpPr>
            <a:spLocks noGrp="1"/>
          </p:cNvSpPr>
          <p:nvPr/>
        </p:nvSpPr>
        <p:spPr>
          <a:xfrm>
            <a:off x="6020767" y="3567139"/>
            <a:ext cx="2631877" cy="8858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Common passenger vehicles dominate the file. Exposure-adjusted rates are needed before claiming that a vehicle type is riskier.</a:t>
            </a:r>
            <a:endParaRPr sz="105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119" y="1490606"/>
            <a:ext cx="5179516" cy="268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5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B80D39-7DD3-46AB-9BBC-2D2382E9D472}"/>
              </a:ext>
            </a:extLst>
          </p:cNvPr>
          <p:cNvSpPr>
            <a:spLocks noGrp="1"/>
          </p:cNvSpPr>
          <p:nvPr/>
        </p:nvSpPr>
        <p:spPr>
          <a:xfrm>
            <a:off x="496119" y="420365"/>
            <a:ext cx="8151763" cy="4083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5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Young-driver representation differs sharply</a:t>
            </a:r>
            <a:endParaRPr sz="255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B8E9688-37B3-4DEC-9540-0696CFECE790}"/>
              </a:ext>
            </a:extLst>
          </p:cNvPr>
          <p:cNvSpPr>
            <a:spLocks noGrp="1"/>
          </p:cNvSpPr>
          <p:nvPr/>
        </p:nvSpPr>
        <p:spPr>
          <a:xfrm>
            <a:off x="6006703" y="1144935"/>
            <a:ext cx="632892" cy="198462"/>
          </a:xfrm>
          <a:prstGeom prst="roundRect">
            <a:avLst>
              <a:gd name="adj" fmla="val 79023"/>
            </a:avLst>
          </a:prstGeom>
          <a:solidFill>
            <a:srgbClr val="EAEDD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8C24421-A8D0-4B8F-8763-18C7196161A9}"/>
              </a:ext>
            </a:extLst>
          </p:cNvPr>
          <p:cNvSpPr>
            <a:spLocks noGrp="1"/>
          </p:cNvSpPr>
          <p:nvPr/>
        </p:nvSpPr>
        <p:spPr>
          <a:xfrm>
            <a:off x="6085061" y="1184077"/>
            <a:ext cx="933376" cy="12017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 → I → K</a:t>
            </a:r>
            <a:endParaRPr sz="8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62B1376-01E5-43A1-853A-84E5BF38A858}"/>
              </a:ext>
            </a:extLst>
          </p:cNvPr>
          <p:cNvSpPr>
            <a:spLocks noGrp="1"/>
          </p:cNvSpPr>
          <p:nvPr/>
        </p:nvSpPr>
        <p:spPr>
          <a:xfrm>
            <a:off x="6006703" y="1391543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Data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7EE36EB-30D5-4D83-9C19-F736B2CE8173}"/>
              </a:ext>
            </a:extLst>
          </p:cNvPr>
          <p:cNvSpPr>
            <a:spLocks noGrp="1"/>
          </p:cNvSpPr>
          <p:nvPr/>
        </p:nvSpPr>
        <p:spPr>
          <a:xfrm>
            <a:off x="6006703" y="1596719"/>
            <a:ext cx="2645866" cy="40168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28000"/>
              </a:lnSpc>
            </a:pP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Drivers aged </a:t>
            </a:r>
            <a:r>
              <a:rPr lang="en-US"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17- 29</a:t>
            </a: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 as a share of valid ages, </a:t>
            </a:r>
            <a:r>
              <a:rPr sz="100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by vehicle type.</a:t>
            </a:r>
            <a:endParaRPr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4E67320-CF46-4293-A7BD-81306E0A582D}"/>
              </a:ext>
            </a:extLst>
          </p:cNvPr>
          <p:cNvSpPr>
            <a:spLocks noGrp="1"/>
          </p:cNvSpPr>
          <p:nvPr/>
        </p:nvSpPr>
        <p:spPr>
          <a:xfrm>
            <a:off x="6006703" y="2238301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Information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8AEC866-6FF7-4F00-8113-4B80353B9125}"/>
              </a:ext>
            </a:extLst>
          </p:cNvPr>
          <p:cNvSpPr>
            <a:spLocks noGrp="1"/>
          </p:cNvSpPr>
          <p:nvPr/>
        </p:nvSpPr>
        <p:spPr>
          <a:xfrm>
            <a:off x="6006703" y="2443477"/>
            <a:ext cx="2645866" cy="60253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50 - 125cc</a:t>
            </a: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 motorcycles: 55.3%; cars: 27.4%; </a:t>
            </a:r>
            <a:r>
              <a:rPr sz="100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large goods vehicles: 9.4%.</a:t>
            </a:r>
            <a:endParaRPr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462EF8-D93F-49DB-A4F5-EEC1738B6605}"/>
              </a:ext>
            </a:extLst>
          </p:cNvPr>
          <p:cNvSpPr>
            <a:spLocks noGrp="1"/>
          </p:cNvSpPr>
          <p:nvPr/>
        </p:nvSpPr>
        <p:spPr>
          <a:xfrm>
            <a:off x="6006703" y="3285902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Knowledge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95B726A-4D5A-48CE-81CA-CCDB3B4DA78E}"/>
              </a:ext>
            </a:extLst>
          </p:cNvPr>
          <p:cNvSpPr>
            <a:spLocks noGrp="1"/>
          </p:cNvSpPr>
          <p:nvPr/>
        </p:nvSpPr>
        <p:spPr>
          <a:xfrm>
            <a:off x="6006703" y="3491078"/>
            <a:ext cx="2645866" cy="100421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Driver age profiles differ by vehicle type. Tailored education may help, but these shares do not measure collision risk.</a:t>
            </a:r>
            <a:endParaRPr sz="10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119" y="1232636"/>
            <a:ext cx="5187032" cy="286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1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0F6C92-761F-46E9-ABAC-2F732781951A}"/>
              </a:ext>
            </a:extLst>
          </p:cNvPr>
          <p:cNvSpPr>
            <a:spLocks noGrp="1"/>
          </p:cNvSpPr>
          <p:nvPr/>
        </p:nvSpPr>
        <p:spPr>
          <a:xfrm>
            <a:off x="496119" y="421853"/>
            <a:ext cx="8151763" cy="43606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0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Vehicle composition changed modestly by year</a:t>
            </a:r>
            <a:endParaRPr sz="27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52177FB-4B32-47B6-BB73-7667C8082465}"/>
              </a:ext>
            </a:extLst>
          </p:cNvPr>
          <p:cNvSpPr>
            <a:spLocks noGrp="1"/>
          </p:cNvSpPr>
          <p:nvPr/>
        </p:nvSpPr>
        <p:spPr>
          <a:xfrm>
            <a:off x="6020767" y="1218456"/>
            <a:ext cx="676126" cy="212006"/>
          </a:xfrm>
          <a:prstGeom prst="roundRect">
            <a:avLst>
              <a:gd name="adj" fmla="val 78990"/>
            </a:avLst>
          </a:prstGeom>
          <a:solidFill>
            <a:srgbClr val="EAEDD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567295-7137-407A-ACCC-F1AA39FEDBF1}"/>
              </a:ext>
            </a:extLst>
          </p:cNvPr>
          <p:cNvSpPr>
            <a:spLocks noGrp="1"/>
          </p:cNvSpPr>
          <p:nvPr/>
        </p:nvSpPr>
        <p:spPr>
          <a:xfrm>
            <a:off x="6104483" y="1260277"/>
            <a:ext cx="965895" cy="12836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 → I → K</a:t>
            </a:r>
            <a:endParaRPr sz="8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3C5840D-42DB-4924-AE57-F29EC9832569}"/>
              </a:ext>
            </a:extLst>
          </p:cNvPr>
          <p:cNvSpPr>
            <a:spLocks noGrp="1"/>
          </p:cNvSpPr>
          <p:nvPr/>
        </p:nvSpPr>
        <p:spPr>
          <a:xfrm>
            <a:off x="6020767" y="1485379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Data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C9B2284-C4A2-4ABD-8154-CE33DEF29C98}"/>
              </a:ext>
            </a:extLst>
          </p:cNvPr>
          <p:cNvSpPr>
            <a:spLocks noGrp="1"/>
          </p:cNvSpPr>
          <p:nvPr/>
        </p:nvSpPr>
        <p:spPr>
          <a:xfrm>
            <a:off x="6020767" y="1704303"/>
            <a:ext cx="2631877" cy="442913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4089"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Annual shares for cars, pedal cycles, </a:t>
            </a:r>
            <a:r>
              <a:rPr lang="en-US"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50 - 125cc</a:t>
            </a: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 motorcycles and light goods vehicles.</a:t>
            </a:r>
            <a:endParaRPr sz="10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0797FDD-B316-4AA4-A8A2-B266BF9581F7}"/>
              </a:ext>
            </a:extLst>
          </p:cNvPr>
          <p:cNvSpPr>
            <a:spLocks noGrp="1"/>
          </p:cNvSpPr>
          <p:nvPr/>
        </p:nvSpPr>
        <p:spPr>
          <a:xfrm>
            <a:off x="6020767" y="2421062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Information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3CC6098-4120-476E-A52C-459AA0471889}"/>
              </a:ext>
            </a:extLst>
          </p:cNvPr>
          <p:cNvSpPr>
            <a:spLocks noGrp="1"/>
          </p:cNvSpPr>
          <p:nvPr/>
        </p:nvSpPr>
        <p:spPr>
          <a:xfrm>
            <a:off x="6020767" y="2631456"/>
            <a:ext cx="2631877" cy="44291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Car share rose 68.39%→69.15%; pedal-cycle share fell 10.04%→8.45%.</a:t>
            </a:r>
            <a:endParaRPr sz="10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18750E3-E4B1-415E-B364-B47711C54881}"/>
              </a:ext>
            </a:extLst>
          </p:cNvPr>
          <p:cNvSpPr>
            <a:spLocks noGrp="1"/>
          </p:cNvSpPr>
          <p:nvPr/>
        </p:nvSpPr>
        <p:spPr>
          <a:xfrm>
            <a:off x="6020767" y="3356744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Knowledge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B1316B-0F16-442E-B378-8335494A3704}"/>
              </a:ext>
            </a:extLst>
          </p:cNvPr>
          <p:cNvSpPr>
            <a:spLocks noGrp="1"/>
          </p:cNvSpPr>
          <p:nvPr/>
        </p:nvSpPr>
        <p:spPr>
          <a:xfrm>
            <a:off x="6020766" y="3567139"/>
            <a:ext cx="2572169" cy="655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Annual mix can reflect travel patterns and reporting. Context is needed before attributing the change to safety.</a:t>
            </a:r>
            <a:endParaRPr sz="105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119" y="1209120"/>
            <a:ext cx="5256284" cy="29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5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1C7472-1532-4730-AFB8-0D035B2BD80C}"/>
              </a:ext>
            </a:extLst>
          </p:cNvPr>
          <p:cNvSpPr>
            <a:spLocks noGrp="1"/>
          </p:cNvSpPr>
          <p:nvPr/>
        </p:nvSpPr>
        <p:spPr>
          <a:xfrm>
            <a:off x="496119" y="421853"/>
            <a:ext cx="8151763" cy="43606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0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Recorded vehicle counts peaked in 2022</a:t>
            </a:r>
            <a:endParaRPr sz="27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0F314C8-6988-4527-B277-D9852AD3EFAA}"/>
              </a:ext>
            </a:extLst>
          </p:cNvPr>
          <p:cNvSpPr>
            <a:spLocks noGrp="1"/>
          </p:cNvSpPr>
          <p:nvPr/>
        </p:nvSpPr>
        <p:spPr>
          <a:xfrm>
            <a:off x="496119" y="1218456"/>
            <a:ext cx="676126" cy="212006"/>
          </a:xfrm>
          <a:prstGeom prst="roundRect">
            <a:avLst>
              <a:gd name="adj" fmla="val 78990"/>
            </a:avLst>
          </a:prstGeom>
          <a:solidFill>
            <a:srgbClr val="EAEDDE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D8CA43-9D36-4C57-8ED5-2103DAE38617}"/>
              </a:ext>
            </a:extLst>
          </p:cNvPr>
          <p:cNvSpPr>
            <a:spLocks noGrp="1"/>
          </p:cNvSpPr>
          <p:nvPr/>
        </p:nvSpPr>
        <p:spPr>
          <a:xfrm>
            <a:off x="579834" y="1260277"/>
            <a:ext cx="965895" cy="12836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 → I → K</a:t>
            </a:r>
            <a:endParaRPr sz="8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6F4A1E-893A-4861-9FDB-FC0B1D90732D}"/>
              </a:ext>
            </a:extLst>
          </p:cNvPr>
          <p:cNvSpPr>
            <a:spLocks noGrp="1"/>
          </p:cNvSpPr>
          <p:nvPr/>
        </p:nvSpPr>
        <p:spPr>
          <a:xfrm>
            <a:off x="496119" y="1485379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Data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55C214-1321-4033-9BCB-9AAFA252F70E}"/>
              </a:ext>
            </a:extLst>
          </p:cNvPr>
          <p:cNvSpPr>
            <a:spLocks noGrp="1"/>
          </p:cNvSpPr>
          <p:nvPr/>
        </p:nvSpPr>
        <p:spPr>
          <a:xfrm>
            <a:off x="496119" y="1704303"/>
            <a:ext cx="2631877" cy="44291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Annual vehicle records rose from 167,375 in 2020 to 193,545 in 2022.</a:t>
            </a:r>
            <a:endParaRPr sz="10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124F21-D469-49D8-B467-5519A344DD4F}"/>
              </a:ext>
            </a:extLst>
          </p:cNvPr>
          <p:cNvSpPr>
            <a:spLocks noGrp="1"/>
          </p:cNvSpPr>
          <p:nvPr/>
        </p:nvSpPr>
        <p:spPr>
          <a:xfrm>
            <a:off x="496119" y="2421062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Information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C7DF3FB-3983-4951-8972-0E3D7B1A5919}"/>
              </a:ext>
            </a:extLst>
          </p:cNvPr>
          <p:cNvSpPr>
            <a:spLocks noGrp="1"/>
          </p:cNvSpPr>
          <p:nvPr/>
        </p:nvSpPr>
        <p:spPr>
          <a:xfrm>
            <a:off x="496119" y="2631456"/>
            <a:ext cx="2631877" cy="6643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Counts fell to 183,514 in </a:t>
            </a:r>
            <a:r>
              <a:rPr lang="en-US"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2024 - 5.2</a:t>
            </a: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% below </a:t>
            </a:r>
            <a:r>
              <a:rPr sz="105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the 2022 peak.</a:t>
            </a:r>
            <a:endParaRPr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1B5C0A-1BFD-452F-AF11-6122437A74EC}"/>
              </a:ext>
            </a:extLst>
          </p:cNvPr>
          <p:cNvSpPr>
            <a:spLocks noGrp="1"/>
          </p:cNvSpPr>
          <p:nvPr/>
        </p:nvSpPr>
        <p:spPr>
          <a:xfrm>
            <a:off x="496119" y="3296715"/>
            <a:ext cx="2631877" cy="21803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Knowledge</a:t>
            </a:r>
            <a:r>
              <a:rPr lang="en-US" sz="13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3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EA5244-3279-4B35-BF85-C865110FA562}"/>
              </a:ext>
            </a:extLst>
          </p:cNvPr>
          <p:cNvSpPr>
            <a:spLocks noGrp="1"/>
          </p:cNvSpPr>
          <p:nvPr/>
        </p:nvSpPr>
        <p:spPr>
          <a:xfrm>
            <a:off x="496119" y="3592408"/>
            <a:ext cx="2631877" cy="6643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sz="10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This is involvement volume, not a collision rate. Traffic exposure and reporting can change the trend.</a:t>
            </a:r>
            <a:endParaRPr sz="105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3128" y="1721169"/>
            <a:ext cx="5409823" cy="25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B80D39-7DD3-46AB-9BBC-2D2382E9D472}"/>
              </a:ext>
            </a:extLst>
          </p:cNvPr>
          <p:cNvSpPr>
            <a:spLocks noGrp="1"/>
          </p:cNvSpPr>
          <p:nvPr/>
        </p:nvSpPr>
        <p:spPr>
          <a:xfrm>
            <a:off x="496119" y="420365"/>
            <a:ext cx="8151763" cy="4083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5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Most collisions recorded two vehicles</a:t>
            </a:r>
            <a:endParaRPr sz="255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B8E9688-37B3-4DEC-9540-0696CFECE790}"/>
              </a:ext>
            </a:extLst>
          </p:cNvPr>
          <p:cNvSpPr>
            <a:spLocks noGrp="1"/>
          </p:cNvSpPr>
          <p:nvPr/>
        </p:nvSpPr>
        <p:spPr>
          <a:xfrm>
            <a:off x="6006703" y="1144935"/>
            <a:ext cx="632892" cy="198462"/>
          </a:xfrm>
          <a:prstGeom prst="roundRect">
            <a:avLst>
              <a:gd name="adj" fmla="val 79023"/>
            </a:avLst>
          </a:prstGeom>
          <a:solidFill>
            <a:srgbClr val="EAEDD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8C24421-A8D0-4B8F-8763-18C7196161A9}"/>
              </a:ext>
            </a:extLst>
          </p:cNvPr>
          <p:cNvSpPr>
            <a:spLocks noGrp="1"/>
          </p:cNvSpPr>
          <p:nvPr/>
        </p:nvSpPr>
        <p:spPr>
          <a:xfrm>
            <a:off x="6085061" y="1184077"/>
            <a:ext cx="933376" cy="12017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 → I → K</a:t>
            </a:r>
            <a:endParaRPr sz="8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62B1376-01E5-43A1-853A-84E5BF38A858}"/>
              </a:ext>
            </a:extLst>
          </p:cNvPr>
          <p:cNvSpPr>
            <a:spLocks noGrp="1"/>
          </p:cNvSpPr>
          <p:nvPr/>
        </p:nvSpPr>
        <p:spPr>
          <a:xfrm>
            <a:off x="6006703" y="1391543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Data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7EE36EB-30D5-4D83-9C19-F736B2CE8173}"/>
              </a:ext>
            </a:extLst>
          </p:cNvPr>
          <p:cNvSpPr>
            <a:spLocks noGrp="1"/>
          </p:cNvSpPr>
          <p:nvPr/>
        </p:nvSpPr>
        <p:spPr>
          <a:xfrm>
            <a:off x="6006703" y="1596719"/>
            <a:ext cx="2645866" cy="40168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Distinct collisions grouped by one, two, or three-or-more recorded vehicles.</a:t>
            </a:r>
            <a:endParaRPr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4E67320-CF46-4293-A7BD-81306E0A582D}"/>
              </a:ext>
            </a:extLst>
          </p:cNvPr>
          <p:cNvSpPr>
            <a:spLocks noGrp="1"/>
          </p:cNvSpPr>
          <p:nvPr/>
        </p:nvSpPr>
        <p:spPr>
          <a:xfrm>
            <a:off x="6006703" y="2101823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Information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8AEC866-6FF7-4F00-8113-4B80353B9125}"/>
              </a:ext>
            </a:extLst>
          </p:cNvPr>
          <p:cNvSpPr>
            <a:spLocks noGrp="1"/>
          </p:cNvSpPr>
          <p:nvPr/>
        </p:nvSpPr>
        <p:spPr>
          <a:xfrm>
            <a:off x="6006703" y="2307000"/>
            <a:ext cx="2645866" cy="60253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313,440 collisions (62.3%) recorded two vehicles; 28.9% one; 8.8% three+.</a:t>
            </a:r>
            <a:endParaRPr sz="1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462EF8-D93F-49DB-A4F5-EEC1738B6605}"/>
              </a:ext>
            </a:extLst>
          </p:cNvPr>
          <p:cNvSpPr>
            <a:spLocks noGrp="1"/>
          </p:cNvSpPr>
          <p:nvPr/>
        </p:nvSpPr>
        <p:spPr>
          <a:xfrm>
            <a:off x="6006703" y="2910589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Knowledge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95B726A-4D5A-48CE-81CA-CCDB3B4DA78E}"/>
              </a:ext>
            </a:extLst>
          </p:cNvPr>
          <p:cNvSpPr>
            <a:spLocks noGrp="1"/>
          </p:cNvSpPr>
          <p:nvPr/>
        </p:nvSpPr>
        <p:spPr>
          <a:xfrm>
            <a:off x="6006703" y="3115764"/>
            <a:ext cx="2645866" cy="100421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Two-vehicle involvement is typical, but a one-vehicle record can still involve a pedestrian or other non-vehicle user.</a:t>
            </a:r>
            <a:endParaRPr sz="100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119" y="1394703"/>
            <a:ext cx="5238211" cy="27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1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48A65E-5B0F-4E7B-8B1E-65F8D2994864}"/>
              </a:ext>
            </a:extLst>
          </p:cNvPr>
          <p:cNvSpPr>
            <a:spLocks noGrp="1"/>
          </p:cNvSpPr>
          <p:nvPr/>
        </p:nvSpPr>
        <p:spPr>
          <a:xfrm>
            <a:off x="496119" y="420365"/>
            <a:ext cx="8151763" cy="4083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5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E-scooter involvement jumped after 2020</a:t>
            </a:r>
            <a:endParaRPr sz="25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9D68E6-23B8-4909-9159-38A43AC614D8}"/>
              </a:ext>
            </a:extLst>
          </p:cNvPr>
          <p:cNvSpPr>
            <a:spLocks noGrp="1"/>
          </p:cNvSpPr>
          <p:nvPr/>
        </p:nvSpPr>
        <p:spPr>
          <a:xfrm>
            <a:off x="496119" y="1144935"/>
            <a:ext cx="632892" cy="198462"/>
          </a:xfrm>
          <a:prstGeom prst="roundRect">
            <a:avLst>
              <a:gd name="adj" fmla="val 79023"/>
            </a:avLst>
          </a:prstGeom>
          <a:solidFill>
            <a:srgbClr val="EAEDDE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33386C-DDF4-44E4-A2C3-5BFA04947B64}"/>
              </a:ext>
            </a:extLst>
          </p:cNvPr>
          <p:cNvSpPr>
            <a:spLocks noGrp="1"/>
          </p:cNvSpPr>
          <p:nvPr/>
        </p:nvSpPr>
        <p:spPr>
          <a:xfrm>
            <a:off x="574477" y="1184077"/>
            <a:ext cx="933376" cy="12017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D → I → K</a:t>
            </a:r>
            <a:endParaRPr sz="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FAB4E4-95AE-4B4C-8B44-F8B403F74B64}"/>
              </a:ext>
            </a:extLst>
          </p:cNvPr>
          <p:cNvSpPr>
            <a:spLocks noGrp="1"/>
          </p:cNvSpPr>
          <p:nvPr/>
        </p:nvSpPr>
        <p:spPr>
          <a:xfrm>
            <a:off x="496119" y="1391543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Data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04BE21-6983-443E-B0E9-EEC00D53EDCB}"/>
              </a:ext>
            </a:extLst>
          </p:cNvPr>
          <p:cNvSpPr>
            <a:spLocks noGrp="1"/>
          </p:cNvSpPr>
          <p:nvPr/>
        </p:nvSpPr>
        <p:spPr>
          <a:xfrm>
            <a:off x="496119" y="1596719"/>
            <a:ext cx="2645866" cy="60253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28000"/>
              </a:lnSpc>
            </a:pPr>
            <a:r>
              <a:rPr sz="100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Recorded e-scooter vehicles: 461 in 2020, </a:t>
            </a: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1,365 in 2021, then </a:t>
            </a:r>
            <a:r>
              <a:rPr lang="en-US"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1,299 - 1,414</a:t>
            </a: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 per year.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932073-BBAB-43ED-AAB6-32060FB1884B}"/>
              </a:ext>
            </a:extLst>
          </p:cNvPr>
          <p:cNvSpPr>
            <a:spLocks noGrp="1"/>
          </p:cNvSpPr>
          <p:nvPr/>
        </p:nvSpPr>
        <p:spPr>
          <a:xfrm>
            <a:off x="496119" y="2097950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Information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sz="1250">
              <a:solidFill>
                <a:srgbClr val="FF0000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8C2551-2562-4149-88A5-6C78520B5467}"/>
              </a:ext>
            </a:extLst>
          </p:cNvPr>
          <p:cNvSpPr>
            <a:spLocks noGrp="1"/>
          </p:cNvSpPr>
          <p:nvPr/>
        </p:nvSpPr>
        <p:spPr>
          <a:xfrm>
            <a:off x="496119" y="2303126"/>
            <a:ext cx="2645866" cy="60253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28000"/>
              </a:lnSpc>
            </a:pPr>
            <a:r>
              <a:rPr sz="100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Involvement increased 196.1% from 2020 to </a:t>
            </a: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2021, then remained near </a:t>
            </a:r>
            <a:r>
              <a:rPr lang="en-US"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1,300 - 1,400</a:t>
            </a:r>
            <a:r>
              <a:rPr sz="100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.</a:t>
            </a:r>
            <a:endParaRPr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006FC1-D61D-43E3-9755-0C8313ED181D}"/>
              </a:ext>
            </a:extLst>
          </p:cNvPr>
          <p:cNvSpPr>
            <a:spLocks noGrp="1"/>
          </p:cNvSpPr>
          <p:nvPr/>
        </p:nvSpPr>
        <p:spPr>
          <a:xfrm>
            <a:off x="496119" y="2889655"/>
            <a:ext cx="2645866" cy="20411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Knowledge</a:t>
            </a:r>
            <a:r>
              <a:rPr lang="en-US" sz="12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7248E61-8F57-425B-BA5A-731B67D6B8A3}"/>
              </a:ext>
            </a:extLst>
          </p:cNvPr>
          <p:cNvSpPr>
            <a:spLocks noGrp="1"/>
          </p:cNvSpPr>
          <p:nvPr/>
        </p:nvSpPr>
        <p:spPr>
          <a:xfrm>
            <a:off x="496119" y="3094831"/>
            <a:ext cx="2645866" cy="80337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00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Usage, rental trials and reporting may explain the jump. Without exposure data, this is not a risk estimate.</a:t>
            </a:r>
            <a:endParaRPr sz="100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5537" y="1266569"/>
            <a:ext cx="5187032" cy="253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05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693D40-4F31-4CF9-B1A4-9913A1C0D5EE}"/>
              </a:ext>
            </a:extLst>
          </p:cNvPr>
          <p:cNvSpPr>
            <a:spLocks noGrp="1"/>
          </p:cNvSpPr>
          <p:nvPr/>
        </p:nvSpPr>
        <p:spPr>
          <a:xfrm>
            <a:off x="496119" y="433313"/>
            <a:ext cx="8151763" cy="3945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4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D → I → K Synthesis</a:t>
            </a:r>
            <a:endParaRPr sz="24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64BD64-9B6B-4054-9BD0-D52C2972171F}"/>
              </a:ext>
            </a:extLst>
          </p:cNvPr>
          <p:cNvSpPr>
            <a:spLocks noGrp="1"/>
          </p:cNvSpPr>
          <p:nvPr/>
        </p:nvSpPr>
        <p:spPr>
          <a:xfrm>
            <a:off x="496119" y="1052736"/>
            <a:ext cx="8608963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Raw coded records become useful knowledge only after cleaning, aggregation and careful interpretation:</a:t>
            </a:r>
            <a:endParaRPr sz="9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03B648-8DE8-4A6B-B7FA-2B4590A0EA0F}"/>
              </a:ext>
            </a:extLst>
          </p:cNvPr>
          <p:cNvSpPr>
            <a:spLocks noGrp="1"/>
          </p:cNvSpPr>
          <p:nvPr/>
        </p:nvSpPr>
        <p:spPr>
          <a:xfrm>
            <a:off x="496119" y="1370186"/>
            <a:ext cx="8151763" cy="3340001"/>
          </a:xfrm>
          <a:prstGeom prst="roundRect">
            <a:avLst>
              <a:gd name="adj" fmla="val 567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2A86F8-9CEC-4AC2-9D79-BFAF11D6626D}"/>
              </a:ext>
            </a:extLst>
          </p:cNvPr>
          <p:cNvSpPr>
            <a:spLocks noGrp="1"/>
          </p:cNvSpPr>
          <p:nvPr/>
        </p:nvSpPr>
        <p:spPr>
          <a:xfrm>
            <a:off x="496119" y="1712640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0DF193-3AB1-437D-A237-F47E56779463}"/>
              </a:ext>
            </a:extLst>
          </p:cNvPr>
          <p:cNvSpPr>
            <a:spLocks noGrp="1"/>
          </p:cNvSpPr>
          <p:nvPr/>
        </p:nvSpPr>
        <p:spPr>
          <a:xfrm>
            <a:off x="496119" y="2243658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5D3AA0-6232-4056-9434-A38DDD899037}"/>
              </a:ext>
            </a:extLst>
          </p:cNvPr>
          <p:cNvSpPr>
            <a:spLocks noGrp="1"/>
          </p:cNvSpPr>
          <p:nvPr/>
        </p:nvSpPr>
        <p:spPr>
          <a:xfrm>
            <a:off x="496119" y="2774677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94B9754-9F6B-4924-9484-4B0DB8820304}"/>
              </a:ext>
            </a:extLst>
          </p:cNvPr>
          <p:cNvSpPr>
            <a:spLocks noGrp="1"/>
          </p:cNvSpPr>
          <p:nvPr/>
        </p:nvSpPr>
        <p:spPr>
          <a:xfrm>
            <a:off x="496119" y="3305696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1B50E6F-4C15-4599-A583-577D23BAE6C8}"/>
              </a:ext>
            </a:extLst>
          </p:cNvPr>
          <p:cNvSpPr>
            <a:spLocks noGrp="1"/>
          </p:cNvSpPr>
          <p:nvPr/>
        </p:nvSpPr>
        <p:spPr>
          <a:xfrm>
            <a:off x="496119" y="3645768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96DD88-D7A2-4492-BB49-7A9FEF56303E}"/>
              </a:ext>
            </a:extLst>
          </p:cNvPr>
          <p:cNvSpPr>
            <a:spLocks noGrp="1"/>
          </p:cNvSpPr>
          <p:nvPr/>
        </p:nvSpPr>
        <p:spPr>
          <a:xfrm>
            <a:off x="496119" y="4176787"/>
            <a:ext cx="8151763" cy="7891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AF35F51-FEAD-4BCA-A8E4-B7149ABA8EE3}"/>
              </a:ext>
            </a:extLst>
          </p:cNvPr>
          <p:cNvSpPr>
            <a:spLocks noGrp="1"/>
          </p:cNvSpPr>
          <p:nvPr/>
        </p:nvSpPr>
        <p:spPr>
          <a:xfrm>
            <a:off x="500955" y="1374949"/>
            <a:ext cx="2279824" cy="337691"/>
          </a:xfrm>
          <a:prstGeom prst="rect">
            <a:avLst/>
          </a:prstGeom>
          <a:solidFill>
            <a:srgbClr val="626C3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42678E-9526-4F3D-9419-6EAC3C8525D6}"/>
              </a:ext>
            </a:extLst>
          </p:cNvPr>
          <p:cNvSpPr>
            <a:spLocks noGrp="1"/>
          </p:cNvSpPr>
          <p:nvPr/>
        </p:nvSpPr>
        <p:spPr>
          <a:xfrm>
            <a:off x="627162" y="1447130"/>
            <a:ext cx="2484611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 b="1">
                <a:solidFill>
                  <a:srgbClr val="FFFFFF"/>
                </a:solidFill>
                <a:latin typeface="Brygada 1918 Bold"/>
                <a:ea typeface="Brygada 1918 Bold"/>
                <a:cs typeface="Brygada 1918 Bold"/>
              </a:rPr>
              <a:t>DATA</a:t>
            </a:r>
            <a:endParaRPr sz="9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F452A5-7377-49F2-8E71-BFF9A7F3FFCD}"/>
              </a:ext>
            </a:extLst>
          </p:cNvPr>
          <p:cNvSpPr>
            <a:spLocks noGrp="1"/>
          </p:cNvSpPr>
          <p:nvPr/>
        </p:nvSpPr>
        <p:spPr>
          <a:xfrm>
            <a:off x="2780779" y="1374949"/>
            <a:ext cx="2931170" cy="337691"/>
          </a:xfrm>
          <a:prstGeom prst="rect">
            <a:avLst/>
          </a:prstGeom>
          <a:solidFill>
            <a:srgbClr val="626C3B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1EA2ECE-1019-413D-8DFA-26C8C8E4585A}"/>
              </a:ext>
            </a:extLst>
          </p:cNvPr>
          <p:cNvSpPr>
            <a:spLocks noGrp="1"/>
          </p:cNvSpPr>
          <p:nvPr/>
        </p:nvSpPr>
        <p:spPr>
          <a:xfrm>
            <a:off x="2906985" y="1447130"/>
            <a:ext cx="3135957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 b="1">
                <a:solidFill>
                  <a:srgbClr val="FFFFFF"/>
                </a:solidFill>
                <a:latin typeface="Brygada 1918 Bold"/>
                <a:ea typeface="Brygada 1918 Bold"/>
                <a:cs typeface="Brygada 1918 Bold"/>
              </a:rPr>
              <a:t>INFORMATION</a:t>
            </a:r>
            <a:endParaRPr sz="9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F552FF2-FD83-4C82-B1A2-D4E18695CFF3}"/>
              </a:ext>
            </a:extLst>
          </p:cNvPr>
          <p:cNvSpPr>
            <a:spLocks noGrp="1"/>
          </p:cNvSpPr>
          <p:nvPr/>
        </p:nvSpPr>
        <p:spPr>
          <a:xfrm>
            <a:off x="5711949" y="1374949"/>
            <a:ext cx="2931170" cy="337691"/>
          </a:xfrm>
          <a:prstGeom prst="rect">
            <a:avLst/>
          </a:prstGeom>
          <a:solidFill>
            <a:srgbClr val="626C3B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73EFE0-C103-45E4-A4C5-91F7B87458D8}"/>
              </a:ext>
            </a:extLst>
          </p:cNvPr>
          <p:cNvSpPr>
            <a:spLocks noGrp="1"/>
          </p:cNvSpPr>
          <p:nvPr/>
        </p:nvSpPr>
        <p:spPr>
          <a:xfrm>
            <a:off x="5838155" y="1447130"/>
            <a:ext cx="3135957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 b="1">
                <a:solidFill>
                  <a:srgbClr val="FFFFFF"/>
                </a:solidFill>
                <a:latin typeface="Brygada 1918 Bold"/>
                <a:ea typeface="Brygada 1918 Bold"/>
                <a:cs typeface="Brygada 1918 Bold"/>
              </a:rPr>
              <a:t>KNOWLEDGE</a:t>
            </a:r>
            <a:endParaRPr sz="9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3A07839-2743-4247-8E4C-5F217AD869A7}"/>
              </a:ext>
            </a:extLst>
          </p:cNvPr>
          <p:cNvSpPr>
            <a:spLocks noGrp="1"/>
          </p:cNvSpPr>
          <p:nvPr/>
        </p:nvSpPr>
        <p:spPr>
          <a:xfrm>
            <a:off x="627162" y="1787203"/>
            <a:ext cx="2484611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Vehicle type counts</a:t>
            </a:r>
            <a:endParaRPr sz="9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6FF158A-EC5D-423C-80D3-E97EEDBE2F3A}"/>
              </a:ext>
            </a:extLst>
          </p:cNvPr>
          <p:cNvSpPr>
            <a:spLocks noGrp="1"/>
          </p:cNvSpPr>
          <p:nvPr/>
        </p:nvSpPr>
        <p:spPr>
          <a:xfrm>
            <a:off x="2906985" y="1787203"/>
            <a:ext cx="3135957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Cars = 68.8% of valid types</a:t>
            </a:r>
            <a:endParaRPr sz="9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1A9903-B5E0-4EA9-BAD1-E6CBCA74CC30}"/>
              </a:ext>
            </a:extLst>
          </p:cNvPr>
          <p:cNvSpPr>
            <a:spLocks noGrp="1"/>
          </p:cNvSpPr>
          <p:nvPr/>
        </p:nvSpPr>
        <p:spPr>
          <a:xfrm>
            <a:off x="5838155" y="1787203"/>
            <a:ext cx="2678757" cy="381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Compare exposure before claiming risk</a:t>
            </a:r>
            <a:endParaRPr sz="9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40D5C41-F41E-4D01-93BE-CEB7D3B4FD59}"/>
              </a:ext>
            </a:extLst>
          </p:cNvPr>
          <p:cNvSpPr>
            <a:spLocks noGrp="1"/>
          </p:cNvSpPr>
          <p:nvPr/>
        </p:nvSpPr>
        <p:spPr>
          <a:xfrm>
            <a:off x="627162" y="2318221"/>
            <a:ext cx="2484611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Valid driver ages</a:t>
            </a:r>
            <a:endParaRPr sz="9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7F1EC4A-8CF1-43B8-9416-A0BFFF4B7D28}"/>
              </a:ext>
            </a:extLst>
          </p:cNvPr>
          <p:cNvSpPr>
            <a:spLocks noGrp="1"/>
          </p:cNvSpPr>
          <p:nvPr/>
        </p:nvSpPr>
        <p:spPr>
          <a:xfrm>
            <a:off x="2906985" y="2318221"/>
            <a:ext cx="3135957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lnSpc>
                <a:spcPct val="126000"/>
              </a:lnSpc>
            </a:pPr>
            <a:r>
              <a:rPr lang="en-US"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17- 29</a:t>
            </a: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 share varies by vehicle</a:t>
            </a:r>
            <a:endParaRPr sz="9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89B9C8-DEAF-4AD3-810D-7ED9BFB53E1F}"/>
              </a:ext>
            </a:extLst>
          </p:cNvPr>
          <p:cNvSpPr>
            <a:spLocks noGrp="1"/>
          </p:cNvSpPr>
          <p:nvPr/>
        </p:nvSpPr>
        <p:spPr>
          <a:xfrm>
            <a:off x="5838155" y="2318221"/>
            <a:ext cx="2678757" cy="381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Tailor education; avoid causal claims</a:t>
            </a:r>
            <a:endParaRPr sz="9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3E41D1F-2E9C-4203-8388-96658EDF1B7D}"/>
              </a:ext>
            </a:extLst>
          </p:cNvPr>
          <p:cNvSpPr>
            <a:spLocks noGrp="1"/>
          </p:cNvSpPr>
          <p:nvPr/>
        </p:nvSpPr>
        <p:spPr>
          <a:xfrm>
            <a:off x="627162" y="2849240"/>
            <a:ext cx="2484611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Annual record counts</a:t>
            </a:r>
            <a:endParaRPr sz="9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EB2140D-C348-4AA4-A2A4-93AFF610CAF5}"/>
              </a:ext>
            </a:extLst>
          </p:cNvPr>
          <p:cNvSpPr>
            <a:spLocks noGrp="1"/>
          </p:cNvSpPr>
          <p:nvPr/>
        </p:nvSpPr>
        <p:spPr>
          <a:xfrm>
            <a:off x="2906985" y="2849240"/>
            <a:ext cx="3135957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2022 peak; 2024 down 5.2%</a:t>
            </a:r>
            <a:endParaRPr sz="9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55BCE41-F89E-43B4-86ED-ABEAC419A1A9}"/>
              </a:ext>
            </a:extLst>
          </p:cNvPr>
          <p:cNvSpPr>
            <a:spLocks noGrp="1"/>
          </p:cNvSpPr>
          <p:nvPr/>
        </p:nvSpPr>
        <p:spPr>
          <a:xfrm>
            <a:off x="5838155" y="2849240"/>
            <a:ext cx="2678757" cy="381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Interpret with traffic and reporting context</a:t>
            </a:r>
            <a:endParaRPr sz="9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17EE1D2-26CE-4203-8C8F-0BB566B47BFD}"/>
              </a:ext>
            </a:extLst>
          </p:cNvPr>
          <p:cNvSpPr>
            <a:spLocks noGrp="1"/>
          </p:cNvSpPr>
          <p:nvPr/>
        </p:nvSpPr>
        <p:spPr>
          <a:xfrm>
            <a:off x="627162" y="3380259"/>
            <a:ext cx="2484611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E-scooter flag by year</a:t>
            </a:r>
            <a:endParaRPr sz="9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39DA99D-6170-4CD9-8151-5514EE6CBF70}"/>
              </a:ext>
            </a:extLst>
          </p:cNvPr>
          <p:cNvSpPr>
            <a:spLocks noGrp="1"/>
          </p:cNvSpPr>
          <p:nvPr/>
        </p:nvSpPr>
        <p:spPr>
          <a:xfrm>
            <a:off x="2906985" y="3380259"/>
            <a:ext cx="3135957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+196.1% from 2020 to 2021</a:t>
            </a:r>
            <a:endParaRPr sz="9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C3D19EE-A02C-423E-8781-4B502E4F4FDA}"/>
              </a:ext>
            </a:extLst>
          </p:cNvPr>
          <p:cNvSpPr>
            <a:spLocks noGrp="1"/>
          </p:cNvSpPr>
          <p:nvPr/>
        </p:nvSpPr>
        <p:spPr>
          <a:xfrm>
            <a:off x="5838155" y="3380259"/>
            <a:ext cx="3135957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Involvement is not exposure-adjusted risk</a:t>
            </a:r>
            <a:endParaRPr sz="9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FC5DDFD-FB93-4DB9-AB76-29DFAD7DD763}"/>
              </a:ext>
            </a:extLst>
          </p:cNvPr>
          <p:cNvSpPr>
            <a:spLocks noGrp="1"/>
          </p:cNvSpPr>
          <p:nvPr/>
        </p:nvSpPr>
        <p:spPr>
          <a:xfrm>
            <a:off x="627162" y="3720331"/>
            <a:ext cx="2484611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Vehicles per collision</a:t>
            </a:r>
            <a:endParaRPr sz="9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6493A44-CE7E-4DF1-8FE4-3AA4F43A3853}"/>
              </a:ext>
            </a:extLst>
          </p:cNvPr>
          <p:cNvSpPr>
            <a:spLocks noGrp="1"/>
          </p:cNvSpPr>
          <p:nvPr/>
        </p:nvSpPr>
        <p:spPr>
          <a:xfrm>
            <a:off x="2906985" y="3720331"/>
            <a:ext cx="3135957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Two vehicles in 62.3%</a:t>
            </a:r>
            <a:endParaRPr sz="9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96199D8-43AD-4650-86CB-BA1DBBE2B6D8}"/>
              </a:ext>
            </a:extLst>
          </p:cNvPr>
          <p:cNvSpPr>
            <a:spLocks noGrp="1"/>
          </p:cNvSpPr>
          <p:nvPr/>
        </p:nvSpPr>
        <p:spPr>
          <a:xfrm>
            <a:off x="5838155" y="3720331"/>
            <a:ext cx="2678757" cy="381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One vehicle may still involve non-drivers</a:t>
            </a:r>
            <a:endParaRPr sz="9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26DE8E1-11D0-4293-B52F-8C3F643BAB55}"/>
              </a:ext>
            </a:extLst>
          </p:cNvPr>
          <p:cNvSpPr>
            <a:spLocks noGrp="1"/>
          </p:cNvSpPr>
          <p:nvPr/>
        </p:nvSpPr>
        <p:spPr>
          <a:xfrm>
            <a:off x="627162" y="4251350"/>
            <a:ext cx="2484611" cy="1909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Unknown codes by year</a:t>
            </a:r>
            <a:endParaRPr sz="95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256F010-5AAF-42C0-B067-2D4E6EF632E5}"/>
              </a:ext>
            </a:extLst>
          </p:cNvPr>
          <p:cNvSpPr>
            <a:spLocks noGrp="1"/>
          </p:cNvSpPr>
          <p:nvPr/>
        </p:nvSpPr>
        <p:spPr>
          <a:xfrm>
            <a:off x="2906985" y="4251350"/>
            <a:ext cx="2678757" cy="381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Missingness rises in 2024</a:t>
            </a:r>
            <a:endParaRPr sz="95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1B1A88E-9217-4F27-9676-EF0A649E6C7C}"/>
              </a:ext>
            </a:extLst>
          </p:cNvPr>
          <p:cNvSpPr>
            <a:spLocks noGrp="1"/>
          </p:cNvSpPr>
          <p:nvPr/>
        </p:nvSpPr>
        <p:spPr>
          <a:xfrm>
            <a:off x="5838155" y="4251350"/>
            <a:ext cx="2678757" cy="381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Use transparent valid denominators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204611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402" y="1574490"/>
            <a:ext cx="2340746" cy="2011579"/>
          </a:xfr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07A7337-C730-442D-8076-A8F4CE7A1757}"/>
              </a:ext>
            </a:extLst>
          </p:cNvPr>
          <p:cNvSpPr>
            <a:spLocks noGrp="1"/>
          </p:cNvSpPr>
          <p:nvPr/>
        </p:nvSpPr>
        <p:spPr>
          <a:xfrm>
            <a:off x="496119" y="394841"/>
            <a:ext cx="4722763" cy="3807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350">
                <a:solidFill>
                  <a:srgbClr val="403011"/>
                </a:solidFill>
                <a:latin typeface="Brygada 1918 SemiBold"/>
                <a:ea typeface="Brygada 1918 SemiBold"/>
                <a:cs typeface="Brygada 1918 SemiBold"/>
              </a:rPr>
              <a:t>Conclusion and Limitations</a:t>
            </a:r>
            <a:endParaRPr sz="235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5935C57-DCE1-470C-8FC5-A3D76FD5FCFB}"/>
              </a:ext>
            </a:extLst>
          </p:cNvPr>
          <p:cNvSpPr>
            <a:spLocks noGrp="1"/>
          </p:cNvSpPr>
          <p:nvPr/>
        </p:nvSpPr>
        <p:spPr>
          <a:xfrm>
            <a:off x="496119" y="932557"/>
            <a:ext cx="274067" cy="274067"/>
          </a:xfrm>
          <a:prstGeom prst="ellipse">
            <a:avLst/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87FD234-8D37-415C-90C6-BAAF8A1953F1}"/>
              </a:ext>
            </a:extLst>
          </p:cNvPr>
          <p:cNvSpPr>
            <a:spLocks noGrp="1"/>
          </p:cNvSpPr>
          <p:nvPr/>
        </p:nvSpPr>
        <p:spPr>
          <a:xfrm>
            <a:off x="874812" y="974378"/>
            <a:ext cx="4344070" cy="1903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0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Scale and reproducibility</a:t>
            </a:r>
            <a:r>
              <a:rPr lang="en-US" sz="120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074A7EB-940C-409A-B033-3946C03AACED}"/>
              </a:ext>
            </a:extLst>
          </p:cNvPr>
          <p:cNvSpPr>
            <a:spLocks noGrp="1"/>
          </p:cNvSpPr>
          <p:nvPr/>
        </p:nvSpPr>
        <p:spPr>
          <a:xfrm>
            <a:off x="874812" y="1227534"/>
            <a:ext cx="4344070" cy="3623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PySpark processed 920,692 vehicle records across 32 columns and produced reproducible grouped queries and charts.</a:t>
            </a:r>
            <a:endParaRPr sz="95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A00C68A-8DAE-4EEA-B353-5FB3A138BE5A}"/>
              </a:ext>
            </a:extLst>
          </p:cNvPr>
          <p:cNvSpPr>
            <a:spLocks noGrp="1"/>
          </p:cNvSpPr>
          <p:nvPr/>
        </p:nvSpPr>
        <p:spPr>
          <a:xfrm>
            <a:off x="496119" y="1799258"/>
            <a:ext cx="274067" cy="274067"/>
          </a:xfrm>
          <a:prstGeom prst="ellipse">
            <a:avLst/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FF446CF-65AB-4179-BA8B-1DD012169880}"/>
              </a:ext>
            </a:extLst>
          </p:cNvPr>
          <p:cNvSpPr>
            <a:spLocks noGrp="1"/>
          </p:cNvSpPr>
          <p:nvPr/>
        </p:nvSpPr>
        <p:spPr>
          <a:xfrm>
            <a:off x="874812" y="1841078"/>
            <a:ext cx="4344070" cy="1903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0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Strongest findings</a:t>
            </a:r>
            <a:r>
              <a:rPr lang="en-US" sz="120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92A4650-47A7-48F6-B97D-2A638BBC4B7E}"/>
              </a:ext>
            </a:extLst>
          </p:cNvPr>
          <p:cNvSpPr>
            <a:spLocks noGrp="1"/>
          </p:cNvSpPr>
          <p:nvPr/>
        </p:nvSpPr>
        <p:spPr>
          <a:xfrm>
            <a:off x="874812" y="2094235"/>
            <a:ext cx="4344070" cy="3623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Cars dominate; records peaked in 2022; 62.3% of collisions recorded two vehicles; e-scooters rose sharply after 2020.</a:t>
            </a:r>
            <a:endParaRPr sz="9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BAD4EBE-01C1-4A3F-BAF4-AA7BEE452FEF}"/>
              </a:ext>
            </a:extLst>
          </p:cNvPr>
          <p:cNvSpPr>
            <a:spLocks noGrp="1"/>
          </p:cNvSpPr>
          <p:nvPr/>
        </p:nvSpPr>
        <p:spPr>
          <a:xfrm>
            <a:off x="496119" y="2665958"/>
            <a:ext cx="274067" cy="274067"/>
          </a:xfrm>
          <a:prstGeom prst="ellipse">
            <a:avLst/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A5CA37C-E4A0-4F09-B7DE-9E1E754455A0}"/>
              </a:ext>
            </a:extLst>
          </p:cNvPr>
          <p:cNvSpPr>
            <a:spLocks noGrp="1"/>
          </p:cNvSpPr>
          <p:nvPr/>
        </p:nvSpPr>
        <p:spPr>
          <a:xfrm>
            <a:off x="874812" y="2707779"/>
            <a:ext cx="4344070" cy="1903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0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Interpret carefully</a:t>
            </a:r>
            <a:r>
              <a:rPr lang="en-US" sz="120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2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4779C5C-F6D1-40C6-B7C7-0551C382CAB9}"/>
              </a:ext>
            </a:extLst>
          </p:cNvPr>
          <p:cNvSpPr>
            <a:spLocks noGrp="1"/>
          </p:cNvSpPr>
          <p:nvPr/>
        </p:nvSpPr>
        <p:spPr>
          <a:xfrm>
            <a:off x="874812" y="2960936"/>
            <a:ext cx="4344070" cy="3623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24000"/>
              </a:lnSpc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These are police-reported involvement </a:t>
            </a:r>
            <a:r>
              <a:rPr lang="en-US"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counts - not</a:t>
            </a: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 rates or causes. </a:t>
            </a:r>
            <a:r>
              <a:rPr sz="950" dirty="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Missingness increased in 2024 and denominators vary.</a:t>
            </a:r>
            <a:endParaRPr sz="9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7D797D0-F202-4FD3-8E26-566747F78462}"/>
              </a:ext>
            </a:extLst>
          </p:cNvPr>
          <p:cNvSpPr>
            <a:spLocks noGrp="1"/>
          </p:cNvSpPr>
          <p:nvPr/>
        </p:nvSpPr>
        <p:spPr>
          <a:xfrm>
            <a:off x="496119" y="3532659"/>
            <a:ext cx="274067" cy="274067"/>
          </a:xfrm>
          <a:prstGeom prst="ellipse">
            <a:avLst/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75DEBD2-CAB1-4119-97D5-E2C1D50E8560}"/>
              </a:ext>
            </a:extLst>
          </p:cNvPr>
          <p:cNvSpPr>
            <a:spLocks noGrp="1"/>
          </p:cNvSpPr>
          <p:nvPr/>
        </p:nvSpPr>
        <p:spPr>
          <a:xfrm>
            <a:off x="874812" y="3574479"/>
            <a:ext cx="4344070" cy="1903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20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Recommended next step</a:t>
            </a:r>
            <a:r>
              <a:rPr lang="en-US" sz="1150">
                <a:solidFill>
                  <a:srgbClr val="FF0000"/>
                </a:solidFill>
                <a:latin typeface="Brygada 1918 SemiBold"/>
                <a:ea typeface="Brygada 1918 SemiBold"/>
                <a:cs typeface="Brygada 1918 SemiBold"/>
              </a:rPr>
              <a:t>:</a:t>
            </a:r>
            <a:endParaRPr lang="en-US" sz="115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7A5BF78-4749-45A4-86EB-13B50C43DA7D}"/>
              </a:ext>
            </a:extLst>
          </p:cNvPr>
          <p:cNvSpPr>
            <a:spLocks noGrp="1"/>
          </p:cNvSpPr>
          <p:nvPr/>
        </p:nvSpPr>
        <p:spPr>
          <a:xfrm>
            <a:off x="874812" y="3827636"/>
            <a:ext cx="4344070" cy="3623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sz="950">
                <a:solidFill>
                  <a:srgbClr val="403011"/>
                </a:solidFill>
                <a:latin typeface="Brygada 1918"/>
                <a:ea typeface="Brygada 1918"/>
                <a:cs typeface="Brygada 1918"/>
              </a:rPr>
              <a:t>Join the collision and casualty files to analyse severity, weather, speed limit and casualties, then add exposure measures.</a:t>
            </a:r>
            <a:endParaRPr sz="95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0888673-4C7F-47C3-8591-01BD2C1238B6}"/>
              </a:ext>
            </a:extLst>
          </p:cNvPr>
          <p:cNvSpPr>
            <a:spLocks noGrp="1"/>
          </p:cNvSpPr>
          <p:nvPr/>
        </p:nvSpPr>
        <p:spPr>
          <a:xfrm>
            <a:off x="892001" y="4442817"/>
            <a:ext cx="4662264" cy="18119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lnSpc>
                <a:spcPct val="124000"/>
              </a:lnSpc>
            </a:pPr>
            <a:endParaRPr lang="en-US" dirty="0">
              <a:solidFill>
                <a:srgbClr val="00B050"/>
              </a:solidFill>
              <a:latin typeface="Brygada 1918"/>
              <a:ea typeface="Brygada 1918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686232-6964-536B-DBE6-08792923B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313" y="710064"/>
            <a:ext cx="3928687" cy="336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20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2100</Words>
  <Application>Microsoft Office PowerPoint</Application>
  <DocSecurity>0</DocSecurity>
  <PresentationFormat>On-screen Show (16:9)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Wingdings</vt:lpstr>
      <vt:lpstr>Arial</vt:lpstr>
      <vt:lpstr>Brygada 1918</vt:lpstr>
      <vt:lpstr>Brygada 1918 Bold</vt:lpstr>
      <vt:lpstr>Calibri</vt:lpstr>
      <vt:lpstr>Brygada 1918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Ahanaf Pervez (Student)</cp:lastModifiedBy>
  <cp:revision>268</cp:revision>
  <dcterms:created xsi:type="dcterms:W3CDTF">2026-08-10T10:55:11Z</dcterms:created>
  <dcterms:modified xsi:type="dcterms:W3CDTF">2026-08-11T16:03:40Z</dcterms:modified>
</cp:coreProperties>
</file>